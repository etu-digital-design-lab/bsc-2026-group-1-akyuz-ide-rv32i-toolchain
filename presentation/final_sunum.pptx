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86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960120"/>
            <a:ext cx="29260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37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C9A7"/>
                </a:solidFill>
              </a:rPr>
              <a:t>T.C. ERZURUM TEKNİK ÜNİVERSİTESİ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389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D4"/>
                </a:solidFill>
              </a:rPr>
              <a:t>Bilgisayar Mühendisliği – Elektrik Elektronik Mühendisliği Bölümü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9601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100" dirty="0">
                <a:solidFill>
                  <a:srgbClr val="FFFFFF"/>
                </a:solidFill>
              </a:rPr>
              <a:t>RISC-V İŞLEMCİ TASARIMI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20040" y="16002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A7"/>
                </a:solidFill>
              </a:rPr>
              <a:t>VE YAPAY ZEKA DESTEKLİ ENTEGRE GELİŞTİRME ORTAMI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71600" y="2240280"/>
            <a:ext cx="6400800" cy="73152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95728"/>
            <a:ext cx="219456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3957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</a:rPr>
              <a:t>RV32I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29260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DEF0"/>
                </a:solidFill>
              </a:rPr>
              <a:t>Taha Tahsin Akyüz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0DEF0"/>
                </a:solidFill>
              </a:rPr>
              <a:t>Naz Afra Öksüz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0DEF0"/>
                </a:solidFill>
              </a:rPr>
              <a:t>Emine Bektaş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" y="38221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BBB"/>
                </a:solidFill>
              </a:rPr>
              <a:t>Danışmanlar: </a:t>
            </a:r>
            <a:r>
              <a:rPr lang="tr-TR" sz="1000" i="1" dirty="0">
                <a:solidFill>
                  <a:srgbClr val="7A9BBB"/>
                </a:solidFill>
              </a:rPr>
              <a:t>Dr. </a:t>
            </a:r>
            <a:r>
              <a:rPr lang="en-US" sz="1000" i="1" dirty="0" err="1">
                <a:solidFill>
                  <a:srgbClr val="7A9BBB"/>
                </a:solidFill>
              </a:rPr>
              <a:t>Öğr</a:t>
            </a:r>
            <a:r>
              <a:rPr lang="en-US" sz="1000" i="1" dirty="0">
                <a:solidFill>
                  <a:srgbClr val="7A9BBB"/>
                </a:solidFill>
              </a:rPr>
              <a:t>. Gör. Latif Akçay  | </a:t>
            </a:r>
            <a:r>
              <a:rPr lang="tr-TR" sz="1000" i="1" dirty="0">
                <a:solidFill>
                  <a:srgbClr val="7A9BBB"/>
                </a:solidFill>
              </a:rPr>
              <a:t>Dr.</a:t>
            </a:r>
            <a:r>
              <a:rPr lang="en-US" sz="1000" i="1" dirty="0">
                <a:solidFill>
                  <a:srgbClr val="7A9BBB"/>
                </a:solidFill>
              </a:rPr>
              <a:t> Öğr. Gör. Sefa Küçük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828032"/>
            <a:ext cx="877824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A9A"/>
                </a:solidFill>
              </a:rPr>
              <a:t>Bitirme Projesi Final Sunumu  •  2025–2026 Bahar Dönemi  •  Mayıs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</a:rPr>
              <a:t>SUNUM İÇERİĞİ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572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 Motivasyonu ve Problematik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07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B"/>
                </a:solidFill>
              </a:rPr>
              <a:t>Neden bu proje? Mevcut araçların eksiklikleri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929384"/>
            <a:ext cx="4572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Sistem Mimarisi — Genel Bakış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176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B"/>
                </a:solidFill>
              </a:rPr>
              <a:t>İki katmanlı donanım + yazılım yaklaşımı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898648"/>
            <a:ext cx="4572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898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RV32I İşlemci Tasarımı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1455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B"/>
                </a:solidFill>
              </a:rPr>
              <a:t>5 aşamalı pipeline, 16 RTL modül, tehlike yönetimi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67912"/>
            <a:ext cx="4572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Donanım Doğrulama Sonuçları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114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B"/>
                </a:solidFill>
              </a:rPr>
              <a:t>14/14 test senaryosu başarı, dalga formu analizi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960120"/>
            <a:ext cx="4572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960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Yazılım</a:t>
            </a:r>
            <a:r>
              <a:rPr lang="en-US" sz="1200" b="1" dirty="0">
                <a:solidFill>
                  <a:srgbClr val="FFFFFF"/>
                </a:solidFill>
              </a:rPr>
              <a:t> Platformu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207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B"/>
                </a:solidFill>
              </a:rPr>
              <a:t>React 19 + Electron + Ollama + Icarus Verilog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929384"/>
            <a:ext cx="4572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Yapay Zeka Modeli: Akyuz AI V2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176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B"/>
                </a:solidFill>
              </a:rPr>
              <a:t>LoRA fine-tuning, Qwen 14B, otonom ajan modu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898648"/>
            <a:ext cx="4572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2898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Bulgular ve Akademik Değerlendirme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1455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B"/>
                </a:solidFill>
              </a:rPr>
              <a:t>Başarılar, kısıtlamalar, katkılar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867912"/>
            <a:ext cx="4572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120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Sonuç ve Gelecek Çalışmalar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4114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BBB"/>
                </a:solidFill>
              </a:rPr>
              <a:t>FPGA sentezi, VGA, dataset genişletme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</a:rPr>
              <a:t>MOTİVASYON VE PROBLEMATİK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73152" cy="1691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</a:rPr>
              <a:t>Dik Öğrenme Eğrisi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</a:rPr>
              <a:t>Verilog HDL ile eşzamanlı devre tasarımı; race conditions, latching, sentezlenebilirlik kuralları nedeniyle son derece karmaşık.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73152" cy="1691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</a:rPr>
              <a:t>Araç Yetersizliği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</a:rPr>
              <a:t>Xilinx Vivado, Quartus gibi endüstri araçları ağır ve yapay zeka entegrasyonundan yoksun; geliştiriciler manuel simülasyon loglarıyla boğuşuyor.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926080"/>
            <a:ext cx="73152" cy="1691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</a:rPr>
              <a:t>AI Asistanların Zayıflığı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</a:rPr>
              <a:t>GitHub Copilot, ChatGPT gibi araçlar Python/JS'de başarılıyken Verilog HDL'nin donanım-spesifik kısıtlarında sentezlenemez kod üretiyor.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26080"/>
            <a:ext cx="73152" cy="1691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35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</a:rPr>
              <a:t>Gizlilik Sorunu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</a:rPr>
              <a:t>Bulut tabanlı API'ler donanım şirketlerinin IP gizliliğiyle bağdaşmıyor; offline, yerel çalışma zorunluluğu var.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0"/>
                </a:solidFill>
              </a:rPr>
              <a:t>→ Çözüm: RV32I işlemci + IDE: Tamamen yerel, yapay zeka destekli, domain-specific HDL geliştirme ortamı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SİSTEM MİMARİSİ — İKİ KATMANLI YAKLAŞIM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3931920"/>
          </a:xfrm>
          <a:prstGeom prst="rect">
            <a:avLst/>
          </a:prstGeom>
          <a:solidFill>
            <a:srgbClr val="0D1B2E"/>
          </a:solidFill>
          <a:ln w="25400">
            <a:solidFill>
              <a:srgbClr val="1A3C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🖥  DONANIM KATMANI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" y="1506728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35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RV32I İşlemci Çekirdeği (rv32_core)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1980184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83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5 Aşamalı Pipeline Mimarisi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5224" y="2416048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16 Bağımsız RTL Verilog Modülü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877820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79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Forwarding + Hazard Detection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5224" y="3300984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27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UART, GPIO, BRAM Çevre Birimleri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3753104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rv32_soc — SoC Hiyerarşisi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4194556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23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Basys 3 Artix-7 FPGA Hedef Kartı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11396" y="2688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9A7"/>
                </a:solidFill>
              </a:rPr>
              <a:t>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6052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</a:rPr>
              <a:t>Simülasyon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</a:rPr>
              <a:t>&amp; Doğrulama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937760" y="960120"/>
            <a:ext cx="3931920" cy="3931920"/>
          </a:xfrm>
          <a:prstGeom prst="rect">
            <a:avLst/>
          </a:prstGeom>
          <a:solidFill>
            <a:srgbClr val="0D1B2E"/>
          </a:solidFill>
          <a:ln w="25400">
            <a:solidFill>
              <a:srgbClr val="1A3C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960120"/>
            <a:ext cx="3931920" cy="41148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💻  YAZILIM KATMANI (IDE)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6632" y="1506728"/>
            <a:ext cx="128016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1435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React 19 + TypeScript + Electron GUI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47488" y="1961388"/>
            <a:ext cx="128016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1883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Monaco Kod Editörü (VSCode motoru)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47488" y="2416048"/>
            <a:ext cx="128016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Icarus Verilog Simülasyon Motoru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52060" y="2864104"/>
            <a:ext cx="128016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2779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AI V2 (Qwen 14B + LoRA)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41900" y="3283712"/>
            <a:ext cx="128016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227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Ollama Yerel LLM Sunucusu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47488" y="3774948"/>
            <a:ext cx="128016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ReAct Ajan Döngüsü (Tool-Calling)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56632" y="4188460"/>
            <a:ext cx="128016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4123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F0"/>
                </a:solidFill>
              </a:rPr>
              <a:t>Python FastAPI Arka Uç Servisi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RV32I İŞLEMCİ MİMARİSİ — 5 AŞAMALI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1554480" cy="2103120"/>
          </a:xfrm>
          <a:prstGeom prst="rect">
            <a:avLst/>
          </a:prstGeom>
          <a:solidFill>
            <a:srgbClr val="1B4F72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IF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Instruction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Fetch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3192" y="1874520"/>
            <a:ext cx="12801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pc.v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imem.v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PC+4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93392" y="914400"/>
            <a:ext cx="1554480" cy="2103120"/>
          </a:xfrm>
          <a:prstGeom prst="rect">
            <a:avLst/>
          </a:prstGeom>
          <a:solidFill>
            <a:srgbClr val="1A5276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ID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93392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Instruction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Decode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30552" y="1874520"/>
            <a:ext cx="12801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rv32_control.v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regfile.v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Imm Gen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1600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30752" y="914400"/>
            <a:ext cx="1554480" cy="2103120"/>
          </a:xfrm>
          <a:prstGeom prst="rect">
            <a:avLst/>
          </a:prstGeom>
          <a:solidFill>
            <a:srgbClr val="154360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0752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EX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30752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Execute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67912" y="1874520"/>
            <a:ext cx="12801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rv32_alu.v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forwarding_unit.v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Branch Logic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0" y="1600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68112" y="914400"/>
            <a:ext cx="1554480" cy="2103120"/>
          </a:xfrm>
          <a:prstGeom prst="rect">
            <a:avLst/>
          </a:prstGeom>
          <a:solidFill>
            <a:srgbClr val="0E665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68112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MEM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68112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Memory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Access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05272" y="1874520"/>
            <a:ext cx="12801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68112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dmem.v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ex_mem_reg.v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Flush Port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40880" y="1600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9A7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05472" y="914400"/>
            <a:ext cx="1554480" cy="2103120"/>
          </a:xfrm>
          <a:prstGeom prst="rect">
            <a:avLst/>
          </a:prstGeom>
          <a:solidFill>
            <a:srgbClr val="186A3B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05472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A7"/>
                </a:solidFill>
              </a:rPr>
              <a:t>WB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05472" y="13898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Write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Back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42632" y="1874520"/>
            <a:ext cx="12801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472" y="1920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mem_wb_reg.v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Sign Extend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8D4F0"/>
                </a:solidFill>
              </a:rPr>
              <a:t>x0 Protection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200400"/>
            <a:ext cx="4069080" cy="822960"/>
          </a:xfrm>
          <a:prstGeom prst="rect">
            <a:avLst/>
          </a:prstGeom>
          <a:solidFill>
            <a:srgbClr val="FCF3CF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7472" y="3246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6608"/>
                </a:solidFill>
              </a:rPr>
              <a:t>⚡ Veri Yönlendirme Birimi (Forwarding Unit)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" y="35204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</a:rPr>
              <a:t>RAW tehlikelerini stall olmadan aşar • EX/MEM → ALU bypass • forward_a/b/store sinyalleri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3200400"/>
            <a:ext cx="4315968" cy="822960"/>
          </a:xfrm>
          <a:prstGeom prst="rect">
            <a:avLst/>
          </a:prstGeom>
          <a:solidFill>
            <a:srgbClr val="FDEDEC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</a:rPr>
              <a:t>🛡 Tehlike Tespit Birimi (Hazard Detection Unit)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3520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495E"/>
                </a:solidFill>
              </a:rPr>
              <a:t>Load-Use stall: 1 NOP enjeksiyonu • Branch flush: IF/ID iptal + PC yönlendirme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4160520"/>
            <a:ext cx="8631936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29968" y="4343400"/>
            <a:ext cx="0" cy="41148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67128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39896" y="4343400"/>
            <a:ext cx="0" cy="41148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77056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32-bit Veri Yolu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49824" y="4343400"/>
            <a:ext cx="0" cy="41148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6984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59752" y="4343400"/>
            <a:ext cx="0" cy="41148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96912" y="4206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DONANIM DOĞRULAMA SONUÇLARI — 14/14 BAŞARI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1920240" cy="1828800"/>
          </a:xfrm>
          <a:prstGeom prst="rect">
            <a:avLst/>
          </a:prstGeom>
          <a:solidFill>
            <a:srgbClr val="1A3C5E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05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9A7"/>
                </a:solidFill>
              </a:rPr>
              <a:t>14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56032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D4F0"/>
                </a:solidFill>
              </a:rPr>
              <a:t>/ 14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0C080"/>
                </a:solidFill>
              </a:rPr>
              <a:t>Test Senaryosu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0C080"/>
                </a:solidFill>
              </a:rPr>
              <a:t>✓ Başarılı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932688"/>
            <a:ext cx="653796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</a:rPr>
              <a:t>ADD, SUB, ADDI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94960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ALU aritmetik doğrulama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66760" y="9875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31720" y="1362456"/>
            <a:ext cx="6537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</a:rPr>
              <a:t>SLL, SRL, SRA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949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Bit kaydırma komutları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66760" y="14173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1792224"/>
            <a:ext cx="653796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</a:rPr>
              <a:t>LUI, AUIPC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94960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20-bit yükleme &amp; PC aritmetiği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66760" y="1847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221992"/>
            <a:ext cx="6537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2276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</a:rPr>
              <a:t>LW, SW (Bellek)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94960" y="2276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32-bit RAM okuma/yazma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66760" y="22768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2651760"/>
            <a:ext cx="653796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706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</a:rPr>
              <a:t>RAW Data Hazard (Forwarding)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94960" y="2706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Veri bağımlılığı çözümü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66760" y="27066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331720" y="3081528"/>
            <a:ext cx="6537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3136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</a:rPr>
              <a:t>Load-Use Stall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94960" y="3136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1 saat döngüsü duraklatma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66760" y="3136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511296"/>
            <a:ext cx="653796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316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</a:rPr>
              <a:t>Branch BEQ/BNE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Şartlı dal + IF/ID Flush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66760" y="3566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331720" y="3941064"/>
            <a:ext cx="6537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3160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</a:rPr>
              <a:t>JAL, JALR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PC atlama &amp; geri dönüş adresi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66760" y="39959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331720" y="4370832"/>
            <a:ext cx="653796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E2EA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4425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C5E"/>
                </a:solidFill>
              </a:rPr>
              <a:t>SLT, SLTU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94960" y="4425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İşaretli/işaretsiz karşılaştırma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66760" y="44256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56032" y="4690872"/>
            <a:ext cx="8631936" cy="347472"/>
          </a:xfrm>
          <a:prstGeom prst="rect">
            <a:avLst/>
          </a:prstGeom>
          <a:solidFill>
            <a:srgbClr val="EAF5E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690872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8449"/>
                </a:solidFill>
              </a:rPr>
              <a:t>Xilinx Vivado xsim • Cycle-accurate simülasyon • 21 komutluk test_program.hex • Sıfır Undefined-X hatası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IDE — YAZILIM PLATFORMU MİMARİSİ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8631936" cy="1234440"/>
          </a:xfrm>
          <a:prstGeom prst="rect">
            <a:avLst/>
          </a:prstGeom>
          <a:solidFill>
            <a:srgbClr val="1B2A45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64008" cy="12344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D5"/>
                </a:solidFill>
              </a:rPr>
              <a:t>KATMAN 1 — Kullanıcı Arayüzü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69314"/>
            <a:ext cx="91440" cy="914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React 19 + TypeScript + Tailwind CSS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3286" y="1618488"/>
            <a:ext cx="91440" cy="914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544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Monaco Kod Editörü (VS Code altyapısı)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81378"/>
            <a:ext cx="91440" cy="914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105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Electron → Cross-platform masaüstü app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0552" y="1378204"/>
            <a:ext cx="91440" cy="914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2984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File Explorer, Log Console, AI Chat Panel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90872" y="1618488"/>
            <a:ext cx="91440" cy="914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544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FPGA Programlama Yükleyici Sayfası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286000"/>
            <a:ext cx="8631936" cy="1234440"/>
          </a:xfrm>
          <a:prstGeom prst="rect">
            <a:avLst/>
          </a:prstGeom>
          <a:solidFill>
            <a:srgbClr val="12263D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286000"/>
            <a:ext cx="64008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59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KATMAN 2 — Çekirdek Denetleyiciler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" y="2734056"/>
            <a:ext cx="9144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700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AIController: Ollama REST API, Streaming JSON, Fallback Parsing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6616" y="2999232"/>
            <a:ext cx="9144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9260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SimulationEngine: iverilog → stderr/stdout yakalama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9144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821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AgentController: ReAct (Reason+Act) döngüsü, Tool-calling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70552" y="2740152"/>
            <a:ext cx="9144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6700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FPGAController: COM port tarama, VID/PID tespiti, GCC toolchain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3657600"/>
            <a:ext cx="8631936" cy="1234440"/>
          </a:xfrm>
          <a:prstGeom prst="rect">
            <a:avLst/>
          </a:prstGeom>
          <a:solidFill>
            <a:srgbClr val="0A1A2E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657600"/>
            <a:ext cx="64008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730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KATMAN 3 — Harici Bağımlılıklar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3286" y="4105656"/>
            <a:ext cx="9144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416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Ollama (Yerel LLM sunucusu)  •  Icarus Verilog (iverilog + vvp)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5986" y="4370832"/>
            <a:ext cx="9144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976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RISC-V GCC Toolchain  •  GTKWave (VCD görüntüleyici)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6936" y="4617720"/>
            <a:ext cx="9144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5537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F0"/>
                </a:solidFill>
              </a:rPr>
              <a:t>Python FastAPI arka uç  •  Git sürüm kontrolü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2212848"/>
            <a:ext cx="8631936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3584448"/>
            <a:ext cx="8631936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YAPAY ZEKA MODELİ —  AI V1 → V2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3840480" cy="2286000"/>
          </a:xfrm>
          <a:prstGeom prst="rect">
            <a:avLst/>
          </a:prstGeom>
          <a:solidFill>
            <a:srgbClr val="FFF3E0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3840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AI V1  (Dönem 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✅ Küçük parametreli temel model üzerine LoRA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✅ Temel Verilog sentaks üretimi başarılı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396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✅ Kombinasyonel devre tasarımı işlevsel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❌ Otonom ajan modunda tool-calling başarısız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❌ Dosya okuma/yazma/derleme zinciri yok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33088" y="1965960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→ Evolution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286000"/>
            <a:ext cx="8229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7488" y="960120"/>
            <a:ext cx="3840480" cy="22860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9E8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47488" y="960120"/>
            <a:ext cx="38404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</a:rPr>
              <a:t> AI V2  (Dönem 2 — Aktif)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463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✅ Qwen 14B temel model + LoRA fine-tuning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66360" y="1801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✅ write_file, read_file, delete_file araçları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66360" y="21396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✅ compile_verilog → otonom derleme döngüsü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66360" y="24780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✅ Icarus Verilog hata analizi ve düzeltme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66360" y="28163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✅ ReAct ajan döngüsü kararlı çalışıyor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3383280"/>
            <a:ext cx="8631936" cy="1554480"/>
          </a:xfrm>
          <a:prstGeom prst="rect">
            <a:avLst/>
          </a:prstGeom>
          <a:solidFill>
            <a:srgbClr val="1A3C5E"/>
          </a:solidFill>
          <a:ln w="12700">
            <a:solidFill>
              <a:srgbClr val="2E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4564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LoRA (Low-Rank Adaptation) Eğitim Metodolojisi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3098" y="3856736"/>
            <a:ext cx="9144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7673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</a:rPr>
              <a:t>Dondurulmuş ana model üzerinde düşük boyutlu A×B matrislerinin eğitimi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1066" y="4102862"/>
            <a:ext cx="9144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032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</a:rPr>
              <a:t>Sıradan mühendis bilgisayarında fine-tuning mümkün (GPU verimliliği)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3098" y="4389120"/>
            <a:ext cx="9144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297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</a:rPr>
              <a:t>Eğitim verisi: GitHub RISC-V repoları + SiFive + akademik kitaplar + el yapımı JSON pair'ler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3098" y="4652518"/>
            <a:ext cx="9144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562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</a:rPr>
              <a:t>System Prompt: output reg zorunluluğu, always @(*), default case, x0=0 koruması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</a:rPr>
              <a:t>OTONOM HATA DÜZELTME DÖNGÜSÜ (Auto Error-Correction Loop)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261872" cy="1600200"/>
          </a:xfrm>
          <a:prstGeom prst="rect">
            <a:avLst/>
          </a:prstGeom>
          <a:solidFill>
            <a:srgbClr val="1B4F72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Kullanıcı / 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Verilog Yazar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81912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9A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764792" y="960120"/>
            <a:ext cx="1261872" cy="1600200"/>
          </a:xfrm>
          <a:prstGeom prst="rect">
            <a:avLst/>
          </a:prstGeom>
          <a:solidFill>
            <a:srgbClr val="1A5276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64792" y="10058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64792" y="13716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64792" y="164592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iverilog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Derleme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26664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9A7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9544" y="960120"/>
            <a:ext cx="1261872" cy="1600200"/>
          </a:xfrm>
          <a:prstGeom prst="rect">
            <a:avLst/>
          </a:prstGeom>
          <a:solidFill>
            <a:srgbClr val="7B241C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9544" y="10058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9544" y="13716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9544" y="164592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Hata mı?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stderr Analizi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71416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9A7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54296" y="960120"/>
            <a:ext cx="1261872" cy="1600200"/>
          </a:xfrm>
          <a:prstGeom prst="rect">
            <a:avLst/>
          </a:prstGeom>
          <a:solidFill>
            <a:srgbClr val="0E665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54296" y="10058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54296" y="13716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54296" y="164592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LLM Analiz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&amp; Düzeltme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16168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9A7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099048" y="960120"/>
            <a:ext cx="1261872" cy="1600200"/>
          </a:xfrm>
          <a:prstGeom prst="rect">
            <a:avLst/>
          </a:prstGeom>
          <a:solidFill>
            <a:srgbClr val="1A5276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99048" y="10058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99048" y="13716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99048" y="164592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Yeniden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Derleme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0920" y="1554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9A7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543800" y="960120"/>
            <a:ext cx="1261872" cy="1600200"/>
          </a:xfrm>
          <a:prstGeom prst="rect">
            <a:avLst/>
          </a:prstGeom>
          <a:solidFill>
            <a:srgbClr val="1E8449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43800" y="10058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43800" y="137160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543800" y="1645920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✅ Başarı!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VCD Üretimi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651760"/>
            <a:ext cx="7955280" cy="0"/>
          </a:xfrm>
          <a:prstGeom prst="line">
            <a:avLst/>
          </a:prstGeom>
          <a:noFill/>
          <a:ln w="19050">
            <a:solidFill>
              <a:srgbClr val="2E4A6B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37160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9A7"/>
                </a:solidFill>
              </a:rPr>
              <a:t>◄── Hata varsa döngü tekrar </a:t>
            </a:r>
            <a:r>
              <a:rPr lang="en-US" sz="900" i="1" dirty="0" err="1">
                <a:solidFill>
                  <a:srgbClr val="00C9A7"/>
                </a:solidFill>
              </a:rPr>
              <a:t>eder</a:t>
            </a:r>
            <a:r>
              <a:rPr lang="en-US" sz="900" i="1" dirty="0">
                <a:solidFill>
                  <a:srgbClr val="00C9A7"/>
                </a:solidFill>
              </a:rPr>
              <a:t> 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063240"/>
            <a:ext cx="8631936" cy="1920240"/>
          </a:xfrm>
          <a:prstGeom prst="rect">
            <a:avLst/>
          </a:prstGeom>
          <a:solidFill>
            <a:srgbClr val="06101C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127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A"/>
                </a:solidFill>
              </a:rPr>
              <a:t>Ak</a:t>
            </a:r>
            <a:r>
              <a:rPr lang="tr-TR" sz="950" dirty="0" err="1">
                <a:solidFill>
                  <a:srgbClr val="5A7A9A"/>
                </a:solidFill>
              </a:rPr>
              <a:t>yuz</a:t>
            </a:r>
            <a:r>
              <a:rPr lang="en-US" sz="950" dirty="0">
                <a:solidFill>
                  <a:srgbClr val="5A7A9A"/>
                </a:solidFill>
              </a:rPr>
              <a:t>IDE – Icarus Verilog Console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3410712"/>
            <a:ext cx="8631936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4564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**RED ERROR:** iverilog alu_4bit.v tb_alu_4bit.v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1480" y="37307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alu_4bit.v:2: syntax error — malformed input [3:0] a, b,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40050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[Akyuz AI]: Autotecting error... Analysis of line 2: Detected comma misuse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42793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[Akyuz AI]: Applying fix: Corrected malformed input signals → re-running...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45537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**GREEN SUCCESS:** Compilation successful. No errors. Object file generated.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BULGULAR VE AKADEMİK DEĞERLENDİRME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41605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1605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BAŞARILAR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1508" y="1493774"/>
            <a:ext cx="128016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14/14 donanım test senaryosu %100 başarılı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05940"/>
            <a:ext cx="128016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190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Sıfır X-state (tanımsız sinyal) hatası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" y="2107692"/>
            <a:ext cx="128016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2082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Forwarding: 0 IPC kaybı ile veri tehlikesi çözümü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9570" y="2400300"/>
            <a:ext cx="128016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225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Load-Use stall: tam 1 saat döngüsü duraklatma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1508" y="2708910"/>
            <a:ext cx="128016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24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Branch flush mekanizması hatasız çalışıyor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9570" y="2997454"/>
            <a:ext cx="128016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AkyuzIDE ReAct ajan döngüsü işlevsel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1348" y="3319272"/>
            <a:ext cx="128016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27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One-shot hata düzeltme (tek analiz döngüsünde)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1508" y="3615436"/>
            <a:ext cx="128016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2958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Icarus Verilog tam entegrasyonu tamamlandı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1348" y="3911600"/>
            <a:ext cx="128016" cy="1280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313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Çapraz platform: Windows / macOS / Linux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7448" y="960120"/>
            <a:ext cx="41605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27448" y="960120"/>
            <a:ext cx="416052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960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KISITLAMALAR &amp; GELİŞTİRME ALANLARI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37176" y="1490472"/>
            <a:ext cx="128016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1417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Multi-modül hiyerarşik tasarımlarda context kayması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1847088"/>
            <a:ext cx="128016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17556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Port ismi uyuşmazlığı (halüsinasyon riski)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37176" y="2185416"/>
            <a:ext cx="128016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0939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VRAM bant genişliği → yanıt süresi uzayabiliyor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37176" y="2513584"/>
            <a:ext cx="128016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65776" y="24323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FPGA fiziksel sentezi (xsim → bitstream) henüz tam değil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1748" y="2852928"/>
            <a:ext cx="128016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2770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VGA çevre birimi entegrasyonu dönem sonu hedefi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8098" y="3191256"/>
            <a:ext cx="128016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3108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Dataset boyutu gigabayt seviyesine çıkarılacak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8098" y="3529584"/>
            <a:ext cx="128016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65776" y="34472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495E"/>
                </a:solidFill>
              </a:rPr>
              <a:t>Chain-of-Thought ajan desteği planlandı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6032" y="4297680"/>
            <a:ext cx="8631936" cy="658368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3434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C9A7"/>
                </a:solidFill>
              </a:rPr>
              <a:t>Akademik Katkı: İlk defa Verilog HDL + RISC-V özelinde LoRA fine-tune + otonom ajan + offline HDL IDE entegrasyonu bir arada sunulmaktadır.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SONUÇ VE GELECEK ÇALIŞMALAR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12648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65379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Proje Özeti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" y="950976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0679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</a:rPr>
              <a:t>RV32I 5-stage pipeline işlemci Verilog HDL ile sıfırdan başarıyla tasarlandı ve %100 doğrulandı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5308" y="1175004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</a:rPr>
              <a:t>AkyuzIDE: React 19 + Electron + Ollama + Icarus Verilog entegrasyonuyla işlevsel HDL IDE tamamlandı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8864" y="1418971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27277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</a:rPr>
              <a:t>Akyuz AI V2 (Qwen 14B + LoRA): otonom ajan modu ile dosya yönetimi ve hata düzeltme döngüsü çalışıyor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655064"/>
            <a:ext cx="12801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910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CF0"/>
                </a:solidFill>
              </a:rPr>
              <a:t>İki sistem birbiriyle entegre: donanım yazılımı, yazılım donanımı besliyor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882267"/>
            <a:ext cx="850392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664" y="183870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Dönem Sonu Hedefleri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" y="2135124"/>
            <a:ext cx="2697480" cy="12344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7" name="Text 15"/>
          <p:cNvSpPr/>
          <p:nvPr/>
        </p:nvSpPr>
        <p:spPr>
          <a:xfrm>
            <a:off x="0" y="21823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0" y="24521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FPGA Fiziksel Sentez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" y="263588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D4"/>
                </a:solidFill>
              </a:rPr>
              <a:t>Basys 3 Artix-7 kartına logic synthesis + implementation + osiloskop doğrulaması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05912" y="2161603"/>
            <a:ext cx="2697480" cy="12344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45460" y="21671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90672" y="2440051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VGA Çevre Birimi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99384" y="2651061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D4"/>
                </a:solidFill>
              </a:rPr>
              <a:t>640×480 piksel VGA Text Terminal — saf Verilog ile karakter tamponu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2416" y="2179828"/>
            <a:ext cx="2697480" cy="12344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47816" y="2219199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81344" y="246888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Dataset Genişletme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9256" y="2611375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D4"/>
                </a:solidFill>
              </a:rPr>
              <a:t>Multi-modül RTL örnekleri, Chain-of-Thought, yeni LoRA optimizasyonu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" y="3461894"/>
            <a:ext cx="2697480" cy="12344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29" name="Text 27"/>
          <p:cNvSpPr/>
          <p:nvPr/>
        </p:nvSpPr>
        <p:spPr>
          <a:xfrm>
            <a:off x="-11176" y="3556571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-27432" y="3776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GTKWave Entegrasyonu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664" y="39136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D4"/>
                </a:solidFill>
              </a:rPr>
              <a:t>AkyuzIDE içinde tıklanabilir dalga formu görüntüleyici widget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05912" y="3491230"/>
            <a:ext cx="2697480" cy="123444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090672" y="355981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090672" y="3809301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Performans Analizi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36900" y="39994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D4"/>
                </a:solidFill>
              </a:rPr>
              <a:t>Critical Path Delay, BRAM/LUT/FF kaynak haritası, IPC optimizasyonu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07592" y="0"/>
            <a:ext cx="0" cy="514350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15184" y="0"/>
            <a:ext cx="0" cy="514350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22776" y="0"/>
            <a:ext cx="0" cy="514350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30368" y="0"/>
            <a:ext cx="0" cy="514350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45552" y="0"/>
            <a:ext cx="0" cy="514350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53144" y="0"/>
            <a:ext cx="0" cy="514350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12700">
            <a:solidFill>
              <a:srgbClr val="0F2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1280160"/>
            <a:ext cx="6400800" cy="2560320"/>
          </a:xfrm>
          <a:prstGeom prst="rect">
            <a:avLst/>
          </a:prstGeom>
          <a:solidFill>
            <a:srgbClr val="051525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14173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C9A7"/>
                </a:solidFill>
              </a:rPr>
              <a:t>Teşekkürler</a:t>
            </a:r>
            <a:endParaRPr lang="en-US" sz="4400" dirty="0"/>
          </a:p>
        </p:txBody>
      </p:sp>
      <p:sp>
        <p:nvSpPr>
          <p:cNvPr id="19" name="Shape 17"/>
          <p:cNvSpPr/>
          <p:nvPr/>
        </p:nvSpPr>
        <p:spPr>
          <a:xfrm>
            <a:off x="2286000" y="2212848"/>
            <a:ext cx="45720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AFD4"/>
                </a:solidFill>
              </a:rPr>
              <a:t>Sorularınız?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9A"/>
                </a:solidFill>
              </a:rPr>
              <a:t>Taha Tahsin Akyüz  •  Naz Afra Öksüz  •  Emine Bektaş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069080"/>
            <a:ext cx="1828800" cy="27432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RISC-V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4069080"/>
            <a:ext cx="1828800" cy="27432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Verilog HDL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4069080"/>
            <a:ext cx="1828800" cy="27432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AkyuzIDE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4480560"/>
            <a:ext cx="1828800" cy="27432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LoRA Fine-Tuning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49040" y="4480560"/>
            <a:ext cx="1828800" cy="27432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Icarus Verilog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4480560"/>
            <a:ext cx="1828800" cy="27432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ReAct Agent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4A6B"/>
                </a:solidFill>
              </a:rPr>
              <a:t>Erzurum Teknik Üniversitesi  •  2025–2026 Bahar Dönemi  •  Bitirme Projesi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1379</Words>
  <Application>Microsoft Office PowerPoint</Application>
  <PresentationFormat>Ekran Gösterisi (16:9)</PresentationFormat>
  <Paragraphs>273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RISC-V İşlemci Tasarımı ve Yapay Zeka Destekli Entegre Geliştirme Ortamı</dc:title>
  <dc:subject>PptxGenJS Presentation</dc:subject>
  <dc:creator>Taha Tahsin Akyüz, Naz Afra Öksüz, Emine Bektaş</dc:creator>
  <cp:lastModifiedBy>Naz Afra ÖKSÜZ</cp:lastModifiedBy>
  <cp:revision>4</cp:revision>
  <dcterms:created xsi:type="dcterms:W3CDTF">2026-05-11T19:43:41Z</dcterms:created>
  <dcterms:modified xsi:type="dcterms:W3CDTF">2026-05-12T09:59:14Z</dcterms:modified>
</cp:coreProperties>
</file>